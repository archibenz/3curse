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Метод глобального сопоставления</a:t>
            </a:r>
            <a:br/>
            <a:r>
              <a:t>элементов веб-страницы для автоматизированного</a:t>
            </a:r>
            <a:br/>
            <a:r>
              <a:t>выявления регрессионных изменений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Автоматизация обнаружения UI-регрессий с использованием</a:t>
            </a:r>
            <a:br/>
            <a:r>
              <a:t>взвешенного многофакторного анализа и алгоритма Венгера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Коломиец А. Р., Морозов М. А., Славим А. 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СТУДВЕСНА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Актуальность проблемы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Веб-приложения обновляются ежедневно — UI меняется быстрее, чем тесты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Ручная проверка регрессий — трудоемка и ненадежна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Попиксельное сравнение скриншотов дает ложные срабатывания при любом сдвиге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Существующие подходы не учитывают семантику элементов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Последствия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До 40% времени QA уходит на поддержку сломанных селекторов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Пропущенные регрессии — дефекты в продакшене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Хрупкие тесты (flaky tests) снижают доверие к автоматизации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•  Масштабирование ручного подхода — невозможно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Segoe UI"/>
              </a:defRPr>
            </a:pPr>
            <a:r>
              <a:t>Цель: разработать метод, который автоматически определяет, какие элементы интерфейса изменились между версиями, с высокой точностью и объяснимостью результатов.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Существующие подходы и 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663440"/>
              </a:tblGrid>
              <a:tr h="5334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Подход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Принцип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Ограничения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Попиксельное сравнение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Побитовая разница скриншотов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Ложные срабатывания при рендеринге шрифтов, динамическом контенте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DOM-diff (tree edit distance)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Расстояние редактирования деревьев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O(n^3) сложность, не учитывает визуальный контекст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Локальный жадный поиск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Greedy matching ближайших элементов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Неустойчив при перестановках, каскадные ошибки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CSS-селекторы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Сопоставление по пути в DOM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Хрупкие при рефакторинге разметки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ML-подходы (CNN)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Обучение на парах скриншотов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Требуют больших датасетов, black-box, низкая интерпретируемость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120640"/>
            <a:ext cx="11064240" cy="100584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Segoe UI"/>
              </a:defRPr>
            </a:pPr>
            <a:r>
              <a:t>Ключевой недостаток: существующие методы либо не учитывают многофакторную природу UI-элементов, либо используют локальный жадный поиск, который дает неоптимальные сопоставления при перестановках элементов.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Обзор предложенного метода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6607" y="1188720"/>
            <a:ext cx="19202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6607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1. Извлечение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DOM + BBox +</a:t>
            </a:r>
            <a:br/>
            <a:r>
              <a:t>атрибуты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5135" y="1645920"/>
            <a:ext cx="237744" cy="4114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1167" y="1188720"/>
            <a:ext cx="19202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1167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2. Векторизация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1167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5 факторов</a:t>
            </a:r>
            <a:br/>
            <a:r>
              <a:t>признаков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79695" y="1645920"/>
            <a:ext cx="237744" cy="4114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35727" y="1188720"/>
            <a:ext cx="19202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5727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3. Матрица</a:t>
            </a:r>
            <a:br/>
            <a:r>
              <a:t>    стоимости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5727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Взвешенная</a:t>
            </a:r>
            <a:br/>
            <a:r>
              <a:t>оценка пар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74255" y="1645920"/>
            <a:ext cx="237744" cy="4114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30287" y="1188720"/>
            <a:ext cx="19202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0287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4. Венгерский</a:t>
            </a:r>
            <a:br/>
            <a:r>
              <a:t>    алгоритм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0287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Глобальное</a:t>
            </a:r>
            <a:br/>
            <a:r>
              <a:t>сопоставление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8815" y="1645920"/>
            <a:ext cx="237744" cy="4114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24847" y="1188720"/>
            <a:ext cx="19202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4847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5. Калибровка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847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F1-порог +</a:t>
            </a:r>
            <a:br/>
            <a:r>
              <a:t>уверенность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17520"/>
            <a:ext cx="53949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Вход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Segoe UI"/>
              </a:defRPr>
            </a:pPr>
            <a:r>
              <a:t>Два состояния веб-страницы: baseline (эталон) и current (текущая версия). Для каждого элемента извлекается вектор из 5 групп признаков.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17520"/>
            <a:ext cx="53949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Выход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Segoe UI"/>
              </a:defRPr>
            </a:pPr>
            <a:r>
              <a:t>Список изменений с типами: SELECTOR_CHANGE, CONTENT_CHANGE, REMOVED, ADDED — каждое с оценкой уверенности и рекомендуемым действием.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Извлечение признаков элементов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Segoe UI"/>
              </a:rPr>
              <a:t>Каждый интерактивный элемент DOM представляется вектором </a:t>
            </a:r>
            <a:r>
              <a:rPr sz="1800" b="1">
                <a:solidFill>
                  <a:srgbClr val="06B6D4"/>
                </a:solidFill>
                <a:latin typeface="Segoe UI"/>
              </a:rPr>
              <a:t>VectorFingerprint</a:t>
            </a:r>
            <a:r>
              <a:rPr sz="1800" b="0">
                <a:solidFill>
                  <a:srgbClr val="F1F5F9"/>
                </a:solidFill>
                <a:latin typeface="Segoe UI"/>
              </a:rPr>
              <a:t> из 5 групп признаков: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Текст (w = 0.32)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Видимый текст элемента. Fuzzy-сравнение: Levenshtein + N-gram. Детекция динамического контента (даты, числа, валюты).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73736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Атрибуты (w = 0.32)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data-testid, id, class, aria-*, role. Иерархия весов: приоритет тестовым атрибутам. Fuzzy matching для классов.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Структура (w = 0.18)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Тег родителя, глубина вложенности, индекс среди соседей, текст предшествующего элемента.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54406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472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Тег (w = 0.12)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Тип HTML-элемента с учетом семантической близости: BUTTON ~ A, SPAN ~ DIV, INPUT ~ TEXTAREA.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37560"/>
            <a:ext cx="54406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4472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Геометрия (w = 0.06)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Bounding box, площадь относительно viewport. Толерантность 20% для адаптивного дизайна.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3097987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30979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Текст 0.32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46627" y="4983480"/>
            <a:ext cx="3097987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6627" y="5029200"/>
            <a:ext cx="30979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Атрибуты 0.32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4614" y="4983480"/>
            <a:ext cx="1991563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4614" y="5029200"/>
            <a:ext cx="19915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Структура 0.18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6177" y="4983480"/>
            <a:ext cx="1548993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6177" y="5029200"/>
            <a:ext cx="15489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Тег 0.12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85170" y="4983480"/>
            <a:ext cx="1327708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5170" y="5029200"/>
            <a:ext cx="13277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Размер 0.06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Текстовое сходство элементов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Три стратегии сравнения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Levenshtein distance — для строк &gt; 20 символов, нормализованное расстояние редактирования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N-gram similarity — для коротких строк (&lt;=20 символов), коэффициент Жаккара по биграммам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Детекция динамического контента — даты, числа, валюты автоматически получают score = 0.85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Комбинирование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Для коротких строк: среднее Levenshtein и N-gram. Это повышает устойчивость к мелким изменениям.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Примеры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45920"/>
          <a:ext cx="4389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09728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"Войти"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"Войти"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"Click Here"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"Click Now"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"Отправить"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"Завершить"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"15.03.2026"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"16.03.2026"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"$100.50"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"$215.30"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389120"/>
            <a:ext cx="5029200" cy="8229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Динамический контент (даты, цены) не должен вызывать ложных срабатываний.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Сопоставление атрибутов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Иерархия весов атрибутов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data-testid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91640"/>
            <a:ext cx="365760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data-cy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103120"/>
            <a:ext cx="3364992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2057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data-test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514600"/>
            <a:ext cx="292608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926080"/>
            <a:ext cx="219456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337560"/>
            <a:ext cx="175564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3291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aria-label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749040"/>
            <a:ext cx="146304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160520"/>
            <a:ext cx="1170432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572000"/>
            <a:ext cx="1170432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526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0.08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Принцип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Тестовые атрибуты (data-testid) — наиболее стабильны, получают максимальный вес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CSS-классы — часто меняются при рефакторинге, поэтому используется fuzzy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Для каждого атрибута: точное или нечеткое сравнение, взвешенное по надежности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Fuzzy class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Классы разбиваются по разделителям (-, _), затем применяется нечеткое сравнение частей:</a:t>
            </a:r>
            <a:br/>
            <a:r>
              <a:t>btn-primary vs btn-secondary → 0.72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Модель оценки сходства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4183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2588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Segoe UI"/>
              </a:defRPr>
            </a:pPr>
            <a:r>
              <a:t>S(e_i, e_j) = w_text · f_text + w_attr · f_attr + w_struct · f_struct + w_tag · f_tag + w_size · f_size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Пример расчета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Baseline: &lt;button data-testid="submit"&gt;Click Here&lt;/button&gt;</a:t>
            </a:r>
            <a:br/>
            <a:r>
              <a:t>Current:  &lt;button data-testid="submit"&gt;Click Now&lt;/button&gt;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918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918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Фактор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Оценка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Вес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Вклад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Текст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0.294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Атрибуты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Структура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0.150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Тег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Размер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0.060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Итого</a:t>
                      </a:r>
                    </a:p>
                  </a:txBody>
                  <a:tcPr>
                    <a:solidFill>
                      <a:srgbClr val="142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142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142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142B1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Адаптивные пороги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Порог принятия решения зависит от типа элемента: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32004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657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Элемент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Порог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 (ссылка)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DIV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По умолчанию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17920" y="5669280"/>
            <a:ext cx="5029200" cy="640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715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Для кнопок требуется более высокая уверенность, чем для контейнеров.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Глобальное двудольное сопоставление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Алгоритм Венгера (Куна-Манкреса)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Задача назначения: оптимальное 1:1 соответствие между элементами baseline и current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Матрица стоимости: C[i][j] = 1 - S(e_i, e_j)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Сложность: O(n^3), практически ~25ms для 50 элементов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Преимущества перед жадным поиском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Устойчивость к перестановкам — элементы, поменявшие порядок, корректно сопоставляются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Отсутствие каскадных ошибок — одно неверное сопоставление не сдвигает остальные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Математическая оптимальность — минимизирует суммарную стоимость назначений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Button "Войти"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Input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92608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Link "Помощь"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56616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Div header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64592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Input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Button "Логин"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92608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Div banner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566160"/>
            <a:ext cx="2286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Link "Справка"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377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80560"/>
            <a:ext cx="5212080" cy="73152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72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Даже при перестановке элементов, Венгерский алгоритм находит оптимальное глобальное соответствие.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Обнаружение смещений контейнеров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Когда контейнер сдвигается, все вложенные элементы тоже меняют координаты. Без учета этого — каждый дочерний элемент ошибочно помечается как "изменившийся".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Решение: DBSCAN-кластеризация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Для каждого контейнера вычисляются смещения (dx, dy) дочерних элементов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DBSCAN кластеризует смещения (eps = 10px)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Если &gt;= 70% детей имеют одинаковое смещение — это сдвиг контейнера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Минимальный порог: 3px (подавление шума)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До и после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1828800"/>
          </a:xfrm>
          <a:prstGeom prst="roundRect">
            <a:avLst/>
          </a:prstGeom>
          <a:solidFill>
            <a:srgbClr val="1A12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Segoe UI"/>
              </a:defRPr>
            </a:pPr>
            <a:r>
              <a:t>Без коррекции:</a:t>
            </a:r>
            <a:br/>
            <a:r>
              <a:t>Container margin: 0 → 50px</a:t>
            </a:r>
            <a:br/>
            <a:r>
              <a:t>Button A — CHANGED (dx=50)</a:t>
            </a:r>
            <a:br/>
            <a:r>
              <a:t>Button B — CHANGED (dx=50)</a:t>
            </a:r>
            <a:br/>
            <a:r>
              <a:t>Input C — CHANGED (dx=50)</a:t>
            </a:r>
            <a:br/>
            <a:r>
              <a:t>Итого: 3 ложных срабатывания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212080" cy="1828800"/>
          </a:xfrm>
          <a:prstGeom prst="roundRect">
            <a:avLst/>
          </a:prstGeom>
          <a:solidFill>
            <a:srgbClr val="121A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Segoe UI"/>
              </a:defRPr>
            </a:pPr>
            <a:r>
              <a:t>С коррекцией (DBSCAN):</a:t>
            </a:r>
            <a:br/>
            <a:r>
              <a:t>Кластер: {dx=50, dy=0}, 3/3 = 100%</a:t>
            </a:r>
            <a:br/>
            <a:r>
              <a:t>Container — SHIFT_DETECTED</a:t>
            </a:r>
            <a:br/>
            <a:r>
              <a:t>Button A — OK (offset compensated)</a:t>
            </a:r>
            <a:br/>
            <a:r>
              <a:t>Button B — OK</a:t>
            </a:r>
            <a:br/>
            <a:r>
              <a:t>Итого: 0 ложных срабатываний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Калибровка уверенности и выбор порога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Трехуровневая калибровка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Уровень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Действие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&gt;= threshold + 0.15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Автоматическое обновление селектора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&gt;= threshold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Рекомендация обновления с пометкой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8B5CF6"/>
                          </a:solidFill>
                          <a:latin typeface="Segoe UI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&lt; threshold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Ручной просмотр (MANUAL_REVIEW)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Выбор порога по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Для каждого типа элемента подбирается порог, максимизирующий F1-меру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Баланс между precision и recall: минимизация ложных срабатываний и пропусков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Пороги валидированы на синтетических и реальных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Классификация изменений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SELECTOR_CHANGE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Селектор элемента изменился. Требуется обновление тестов.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CONTENT_CHANGE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Содержимое изменилось, селектор тот же. Проверить ожидаемые значения.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POSSIBLY_REMOVED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Низкая уверенность в совпадении. Элемент возможно удален.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80060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Segoe UI"/>
              </a:defRPr>
            </a:pPr>
            <a:r>
              <a:t>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Элемент не найден в текущей версии. Score =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Экспериментальная часть: методика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Синтетические мутации 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Текстовые — замена, добавление, удаление текста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Атрибутные — переименование классов, id, data-*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Структурные — перемещение, вложение, перестановка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Геометрические — сдвиг, изменение размера, скрытие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Комбинированные — несколько типов одновременно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Метрики оценки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Precision — доля верных среди найденных совпадений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Recall — доля найденных среди реальных совпадений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F1-мера — гармоническое среднее precision и recall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Accuracy — общая точность классификации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Реальные сценарии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Область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Характеристика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E-commerce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Каталоги товаров, карточки, фильтры, динамические цены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SaaS dashboard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Таблицы, графики, формы, навигация, виджеты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Контент-сайты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Новостные ленты, статьи, комментарии, реклама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Формы и авторизация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Логин, регистрация, профиль, многошаговые формы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206240"/>
            <a:ext cx="5029200" cy="73152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20+ тестовых сценариев покрывают основные паттерны UI-изменений в продакшен-приложениях.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Результаты: точность по типам элементов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289304"/>
            <a:ext cx="6748272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289304"/>
            <a:ext cx="773582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56064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94% (+12%)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728216"/>
            <a:ext cx="6172200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728216"/>
            <a:ext cx="748893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9176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91% (+16%)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12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 (link)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167128"/>
            <a:ext cx="6419088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167128"/>
            <a:ext cx="7571232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2112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92% (+14%)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511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H1-H6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606040"/>
            <a:ext cx="6995160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2606040"/>
            <a:ext cx="7653528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5511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93% (+8%)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900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DIV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044952"/>
            <a:ext cx="4526280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3044952"/>
            <a:ext cx="7242048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990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88% (+33%)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SPAN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483864"/>
            <a:ext cx="5102352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3483864"/>
            <a:ext cx="732434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584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89% (+27%)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67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922776"/>
            <a:ext cx="3950208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3922776"/>
            <a:ext cx="699516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85% (+37%)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06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IMG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361688"/>
            <a:ext cx="5760720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4361688"/>
            <a:ext cx="740664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306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90% (+20%)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457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4800600"/>
            <a:ext cx="6583680" cy="274320"/>
          </a:xfrm>
          <a:prstGeom prst="rect">
            <a:avLst/>
          </a:prstGeom>
          <a:solidFill>
            <a:srgbClr val="3D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0" y="4800600"/>
            <a:ext cx="7653528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47457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93% (+13%)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Темный — локальный жадный поиск (базовый)  |  Заливка — глобальное сопоставление Венгера + многофакторный анализ (предложенный метод)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Segoe UI"/>
              </a:defRPr>
            </a:pPr>
            <a:r>
              <a:t>+24%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средний прирост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средняя точность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760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Segoe UI"/>
              </a:defRPr>
            </a:pPr>
            <a:r>
              <a:t>&lt;5%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overhead по времени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Анализ вклада факторов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Вклад каждого улучшения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000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Фактор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Вклад в точность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Fuzzy text + N-gram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+28%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Взвешенные атрибуты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Fuzzy CSS-классы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Многоуровневая структура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+27%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DBSCAN контейнеры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+27%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Толерантность размеров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Семантика тегов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* Вклад измерен при изолированном включении фактора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Улучшение по категориям мутаций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2062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Категория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Было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Стало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Простые элементы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Сложные элементы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Динамический контент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Структурные изменения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4023360"/>
            <a:ext cx="5029200" cy="9144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Наибольший прирост достигнут для сложных элементов (DIV, LI, SPAN) и динамического контента — ранее самых проблемных категорий.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Реальные сценарии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1. Текстовое изменение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&lt;button&gt;Click Here&lt;/button&gt;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Score: 0.55 → 0.87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2. CSS рефакторинг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class="input-primary"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Score: 0.55 → 0.84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3. Перемещение элемента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pos: (100,200) → (110,210)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Score: 0.62 → 0.81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47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4. Динамический контент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"Updated: 2026-01-15" → "...-16"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Score: 0.15 → 0.87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3375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447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5. Сдвиг контейнера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margin: 0 → 50px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3 false pos → 0 false pos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3375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447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6. Смена тега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BUTTON → A[role=button]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Score: 0.30 → 0.78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Производительность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Временные характеристики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918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Операция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Время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Сложность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Сравнение пары элементов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~0.5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O(L) по тексту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N-gram similarity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~0.1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O(n + 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Levenshtein distance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~0.3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O(n * 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DBSCAN кластеризация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O(k^2), k &lt; 100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Страница (50 элементов)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~25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O(n^3) Венгер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10 страниц (полный скан)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~250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5303520" cy="73152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Накладные расходы &lt; 5% по сравнению с предыдущей версией при приросте точности +24%.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Архитектура системы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PlaywrightEngine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Извлечение DOM, скриншотов, bbox через браузер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23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0292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FingerprintEngine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Векторизация и оценка сходства элементов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50292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22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GeometryMatcher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DBSCAN кластеризация, обнаружение контейнерных сдвигов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00600"/>
            <a:ext cx="50292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73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ScanOrchestrator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Глобальное сопоставление, калибровка, отчетность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Основные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Разработан метод глобального сопоставления элементов веб-страницы, объединяющий 5 групп признаков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Применение алгоритма Венгера повысило устойчивость при перестановках и частичных изменениях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Средняя точность: 68-72% → 92-96% (+24%)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Наибольший прирост для сложных элементов: +33-37%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Производительность: &lt;5% overhead, пригодно для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Научная новизна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Многофакторная модель сходства с адаптивными порогами по типу элемента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Детектирование динамического контента для подавления ложных срабатываний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DBSCAN-кластеризация смещений контейнеров для коррекции геометрии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Практическая применимость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CI/CD интеграция — автоматический запуск при деплое через webhooks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Обновление тестов — автоматическое предложение замены сломанных селекторов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Объяснимость — каждое решение разложено на 5 компонентов с весами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Масштабируемость — работа с десятками страниц за секунды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Перспективы развития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Историческое контекстное сопоставление на основе предыдущих сканов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ML-калибровка весов на реальных данных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 Расширение на мобильные и кросс-браузерные тесты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средняя точность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Segoe UI"/>
              </a:defRPr>
            </a:pPr>
            <a:r>
              <a:t>+24%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прирост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факторов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Segoe UI"/>
              </a:defRPr>
            </a:pPr>
            <a:r>
              <a:t>250ms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10 страниц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Коломиец А. Р., Морозов М. А., Славим А. В. | Студвесна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