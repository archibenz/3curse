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5" r:id="rId12"/>
  </p:sldIdLst>
  <p:sldSz cx="14630400" cy="8229600"/>
  <p:notesSz cx="8229600" cy="14630400"/>
  <p:embeddedFontLst>
    <p:embeddedFont>
      <p:font typeface="Roboto" panose="02000000000000000000" pitchFamily="2" charset="0"/>
      <p:regular r:id="rId14"/>
      <p:bold r:id="rId15"/>
      <p:italic r:id="rId16"/>
      <p:boldItalic r:id="rId17"/>
    </p:embeddedFont>
    <p:embeddedFont>
      <p:font typeface="Roboto Slab" pitchFamily="2" charset="0"/>
      <p:regular r:id="rId18"/>
      <p:bold r:id="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7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954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_AND_BODY">
    <p:bg>
      <p:bgPr>
        <a:gradFill flip="none" rotWithShape="1">
          <a:gsLst>
            <a:gs pos="0">
              <a:srgbClr val="F67F00"/>
            </a:gs>
            <a:gs pos="100000">
              <a:srgbClr val="FFAE3B"/>
            </a:gs>
          </a:gsLst>
          <a:lin ang="7465411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 descr="Google Shape;12;p2"/>
          <p:cNvPicPr>
            <a:picLocks noChangeAspect="1"/>
          </p:cNvPicPr>
          <p:nvPr/>
        </p:nvPicPr>
        <p:blipFill>
          <a:blip r:embed="rId2"/>
          <a:srcRect t="59" b="59"/>
          <a:stretch>
            <a:fillRect/>
          </a:stretch>
        </p:blipFill>
        <p:spPr>
          <a:xfrm>
            <a:off x="533020" y="1789539"/>
            <a:ext cx="19095237" cy="7112125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718281" y="189599"/>
            <a:ext cx="9010082" cy="209184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6720" b="0">
                <a:solidFill>
                  <a:srgbClr val="FFFFFF"/>
                </a:solidFill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718276" y="2945130"/>
            <a:ext cx="12496802" cy="71424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4320">
                <a:solidFill>
                  <a:srgbClr val="FFFFFF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4320">
                <a:solidFill>
                  <a:srgbClr val="FFFFFF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4320">
                <a:solidFill>
                  <a:srgbClr val="FFFFFF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4320">
                <a:solidFill>
                  <a:srgbClr val="FFFFFF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320">
                <a:solidFill>
                  <a:srgbClr val="FFFFFF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pic>
        <p:nvPicPr>
          <p:cNvPr id="15" name="Google Shape;15;p2" descr="Google Shape;15;p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5313" y="575698"/>
            <a:ext cx="2619806" cy="675085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4300576" y="7938769"/>
            <a:ext cx="329824" cy="29741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622058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28;p5"/>
          <p:cNvSpPr txBox="1"/>
          <p:nvPr/>
        </p:nvSpPr>
        <p:spPr>
          <a:xfrm>
            <a:off x="1598204" y="4540066"/>
            <a:ext cx="12496802" cy="3163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0440" tIns="30440" rIns="30440" bIns="30440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rPr sz="2880" dirty="0" err="1"/>
              <a:t>Выполнил</a:t>
            </a:r>
            <a:r>
              <a:rPr lang="ru-RU" sz="2880" dirty="0"/>
              <a:t>и</a:t>
            </a:r>
            <a:r>
              <a:rPr sz="2880" dirty="0"/>
              <a:t>: </a:t>
            </a:r>
          </a:p>
          <a:p>
            <a:pPr algn="r">
              <a:defRPr sz="1800" b="1">
                <a:solidFill>
                  <a:srgbClr val="FFFFFF"/>
                </a:solidFill>
              </a:defRPr>
            </a:pPr>
            <a:r>
              <a:rPr lang="ru-RU" sz="2880" dirty="0"/>
              <a:t>Коломиец А.Р.</a:t>
            </a:r>
          </a:p>
          <a:p>
            <a:pPr algn="r">
              <a:defRPr sz="1800" b="1">
                <a:solidFill>
                  <a:srgbClr val="FFFFFF"/>
                </a:solidFill>
              </a:defRPr>
            </a:pPr>
            <a:r>
              <a:rPr lang="ru-RU" sz="2880" dirty="0"/>
              <a:t>Морозов М.Е.</a:t>
            </a:r>
          </a:p>
          <a:p>
            <a:pPr algn="r">
              <a:defRPr sz="1800" b="1">
                <a:solidFill>
                  <a:srgbClr val="FFFFFF"/>
                </a:solidFill>
              </a:defRPr>
            </a:pPr>
            <a:r>
              <a:rPr lang="ru-RU" sz="2880" dirty="0"/>
              <a:t>Озеров И.О.</a:t>
            </a:r>
          </a:p>
          <a:p>
            <a:pPr algn="r">
              <a:defRPr sz="1800" b="1">
                <a:solidFill>
                  <a:srgbClr val="FFFFFF"/>
                </a:solidFill>
              </a:defRPr>
            </a:pPr>
            <a:r>
              <a:rPr lang="ru-RU" sz="2880" dirty="0"/>
              <a:t>Славин А.В.</a:t>
            </a:r>
            <a:endParaRPr sz="2880" dirty="0"/>
          </a:p>
          <a:p>
            <a:pPr algn="r">
              <a:defRPr sz="1800" b="1">
                <a:solidFill>
                  <a:srgbClr val="FFFFFF"/>
                </a:solidFill>
              </a:defRPr>
            </a:pPr>
            <a:r>
              <a:rPr sz="2880" dirty="0" err="1"/>
              <a:t>Научный</a:t>
            </a:r>
            <a:r>
              <a:rPr sz="2880" dirty="0"/>
              <a:t> </a:t>
            </a:r>
            <a:r>
              <a:rPr sz="2880" dirty="0" err="1"/>
              <a:t>руководитель</a:t>
            </a:r>
            <a:r>
              <a:rPr sz="2880" dirty="0"/>
              <a:t>:</a:t>
            </a:r>
            <a:endParaRPr lang="ru-RU" sz="2880" dirty="0"/>
          </a:p>
          <a:p>
            <a:pPr algn="r">
              <a:defRPr sz="1800" b="1">
                <a:solidFill>
                  <a:srgbClr val="FFFFFF"/>
                </a:solidFill>
              </a:defRPr>
            </a:pPr>
            <a:r>
              <a:rPr lang="ru-RU" sz="2880" dirty="0"/>
              <a:t>Дагаев А.В.</a:t>
            </a:r>
            <a:endParaRPr sz="2880" dirty="0"/>
          </a:p>
        </p:txBody>
      </p:sp>
      <p:sp>
        <p:nvSpPr>
          <p:cNvPr id="54" name="TextBox 7"/>
          <p:cNvSpPr txBox="1"/>
          <p:nvPr/>
        </p:nvSpPr>
        <p:spPr>
          <a:xfrm>
            <a:off x="507819" y="525672"/>
            <a:ext cx="11359350" cy="175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3150" rIns="73150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rPr lang="ru-RU" sz="3600" dirty="0"/>
              <a:t>Тема:</a:t>
            </a:r>
            <a:br>
              <a:rPr lang="ru-RU" sz="3600" dirty="0"/>
            </a:br>
            <a:r>
              <a:rPr lang="ru-RU" sz="3600" dirty="0"/>
              <a:t>Разработка многопоточных приложений для построения и прохождения неидеальных лабиринтов</a:t>
            </a:r>
            <a:endParaRPr sz="32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61711" y="1955938"/>
            <a:ext cx="13866755" cy="1932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2000" dirty="0"/>
              <a:t>Алгоритмы генерации лабиринтов — классический пример задач на графы и случайные структуры.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ru-RU" sz="2000" dirty="0"/>
              <a:t>В учебных и игровых движках идеальные (циклов-нет) лабиринты строятся быстро, но с ростом размера карта 30 × 30 и выше однопоточная генерация становится «узким горлышком». Неидеальные лабиринты, требующие заданного числа петель, ещё тяжелее: необходимо динамически «проламывать» стены и предотвращать гонки между потоками. Предлагаемое многопоточное решение снимает ограничение по времени и даёт живую демонстрацию работы параллельных алгоритмов при минимальных накладных расходах синхронизации.</a:t>
            </a:r>
            <a:endParaRPr lang="en-US" sz="2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C1F84B2-F3EC-B147-1D59-EE0345EB5927}"/>
              </a:ext>
            </a:extLst>
          </p:cNvPr>
          <p:cNvSpPr/>
          <p:nvPr/>
        </p:nvSpPr>
        <p:spPr>
          <a:xfrm>
            <a:off x="361711" y="4477702"/>
            <a:ext cx="1429883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Цель – создать эффективные алгоритмы для сложных лабиринтов. Применения включают робототехнику, игры и моделирование.</a:t>
            </a:r>
            <a:endParaRPr lang="en-US" sz="20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6188F43C-E8C5-7E0A-8B44-98C534290C0F}"/>
              </a:ext>
            </a:extLst>
          </p:cNvPr>
          <p:cNvSpPr/>
          <p:nvPr/>
        </p:nvSpPr>
        <p:spPr>
          <a:xfrm>
            <a:off x="452176" y="550844"/>
            <a:ext cx="884254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spcAft>
                <a:spcPts val="1200"/>
              </a:spcAft>
              <a:buNone/>
            </a:pPr>
            <a:r>
              <a:rPr lang="ru-RU" sz="4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Определение актуальности и</a:t>
            </a:r>
          </a:p>
          <a:p>
            <a:pPr marL="0" indent="0" algn="l">
              <a:lnSpc>
                <a:spcPts val="3300"/>
              </a:lnSpc>
              <a:spcAft>
                <a:spcPts val="1200"/>
              </a:spcAft>
              <a:buNone/>
            </a:pPr>
            <a:r>
              <a:rPr lang="ru-RU" sz="4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проблемы исследования</a:t>
            </a:r>
            <a:endParaRPr lang="en-US" sz="4400" dirty="0"/>
          </a:p>
          <a:p>
            <a:pPr marL="0" indent="0" algn="l">
              <a:lnSpc>
                <a:spcPts val="3300"/>
              </a:lnSpc>
              <a:spcAft>
                <a:spcPts val="2400"/>
              </a:spcAft>
              <a:buNone/>
            </a:pPr>
            <a:endParaRPr lang="en-US" sz="44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48EB3435-E3CD-823F-7B47-61128BF0685A}"/>
              </a:ext>
            </a:extLst>
          </p:cNvPr>
          <p:cNvSpPr/>
          <p:nvPr/>
        </p:nvSpPr>
        <p:spPr>
          <a:xfrm>
            <a:off x="361711" y="5709787"/>
            <a:ext cx="13675806" cy="261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Задачи исследования</a:t>
            </a:r>
          </a:p>
          <a:p>
            <a:pPr marL="342900" indent="-34290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Проанализировать существующие алгоритмы DFS-</a:t>
            </a:r>
            <a:r>
              <a:rPr lang="ru-RU" sz="20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backtracking</a:t>
            </a:r>
            <a:r>
              <a:rPr lang="ru-RU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 BFS.</a:t>
            </a:r>
          </a:p>
          <a:p>
            <a:pPr marL="342900" indent="-34290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Модифицировать DFS так, чтобы </a:t>
            </a:r>
            <a:r>
              <a:rPr lang="ru-RU" sz="20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on-the-fly</a:t>
            </a:r>
            <a:r>
              <a:rPr lang="ru-RU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формировать n дополнительных петель.</a:t>
            </a:r>
          </a:p>
          <a:p>
            <a:pPr marL="342900" indent="-34290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Спроектировать модель «мьютекс-секции» для безопасной параллельной резки стен.</a:t>
            </a:r>
            <a:endParaRPr lang="en-US" sz="20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CE4FF37-12C5-4CB9-2F58-945556D9683E}"/>
              </a:ext>
            </a:extLst>
          </p:cNvPr>
          <p:cNvSpPr/>
          <p:nvPr/>
        </p:nvSpPr>
        <p:spPr>
          <a:xfrm>
            <a:off x="12791552" y="7707086"/>
            <a:ext cx="1758461" cy="432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1857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Постановка задачи: Что </a:t>
            </a:r>
            <a:r>
              <a:rPr lang="en-US" sz="44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такое</a:t>
            </a: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ru-RU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идеальные и </a:t>
            </a:r>
            <a:r>
              <a:rPr lang="en-US" sz="44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неидеальные</a:t>
            </a: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лабиринты?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576292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E9ECF2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58031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Определение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629352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Лабиринты с петлями, тупиками и безрешательными зонами.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5576292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E9ECF2"/>
          </a:solidFill>
          <a:ln/>
        </p:spPr>
      </p:sp>
      <p:sp>
        <p:nvSpPr>
          <p:cNvPr id="8" name="Text 5"/>
          <p:cNvSpPr/>
          <p:nvPr/>
        </p:nvSpPr>
        <p:spPr>
          <a:xfrm>
            <a:off x="5443776" y="58031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Сложность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43776" y="629352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Поиск пути требует учета странных и необычных структур.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5576292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E9ECF2"/>
          </a:solidFill>
          <a:ln/>
        </p:spPr>
      </p:sp>
      <p:sp>
        <p:nvSpPr>
          <p:cNvPr id="11" name="Text 8"/>
          <p:cNvSpPr/>
          <p:nvPr/>
        </p:nvSpPr>
        <p:spPr>
          <a:xfrm>
            <a:off x="9866948" y="58031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Примеры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66948" y="629352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Генерация на основе реальных карт и местности.</a:t>
            </a:r>
            <a:endParaRPr lang="en-US" sz="17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2F5DB03-AD61-D4D3-6A80-FADF2E09FEB1}"/>
              </a:ext>
            </a:extLst>
          </p:cNvPr>
          <p:cNvSpPr/>
          <p:nvPr/>
        </p:nvSpPr>
        <p:spPr>
          <a:xfrm>
            <a:off x="12791552" y="7707086"/>
            <a:ext cx="1758461" cy="432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2680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Методология: Многопоточность и параллельные алгоритмы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113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Преимущества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92479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Ускорение построения и поиска за счет распараллеливания.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40113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Подходы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92479"/>
            <a:ext cx="3978116" cy="354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Разделение лабиринта на области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32928" y="5173624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Потоковая обработка каждой области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872067" y="40113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Алгоритмы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872067" y="4592479"/>
            <a:ext cx="3978116" cy="354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Построение: Recursive </a:t>
            </a:r>
            <a:r>
              <a:rPr lang="en-GB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Backtracker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872067" y="5173624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Прохождение: A*, BFS, DFS (параллельные версии)</a:t>
            </a:r>
            <a:endParaRPr lang="en-US" sz="175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E034C29-54CC-048E-EF00-F0AE25B1A2E2}"/>
              </a:ext>
            </a:extLst>
          </p:cNvPr>
          <p:cNvSpPr/>
          <p:nvPr/>
        </p:nvSpPr>
        <p:spPr>
          <a:xfrm>
            <a:off x="12791552" y="7707086"/>
            <a:ext cx="1758461" cy="432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50877"/>
            <a:ext cx="75833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Архитектура приложения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9981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4" name="Text 2"/>
          <p:cNvSpPr/>
          <p:nvPr/>
        </p:nvSpPr>
        <p:spPr>
          <a:xfrm>
            <a:off x="1530906" y="3377684"/>
            <a:ext cx="32552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Генератор лабиринтов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30906" y="3868103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Многопоточный, разделяет задачи на потоки.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57003" y="329981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7" name="Text 5"/>
          <p:cNvSpPr/>
          <p:nvPr/>
        </p:nvSpPr>
        <p:spPr>
          <a:xfrm>
            <a:off x="8194119" y="3377684"/>
            <a:ext cx="28434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Поисковый движок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94119" y="3868103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Оптимизирован для параллельного поиска путей.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68463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0" name="Text 8"/>
          <p:cNvSpPr/>
          <p:nvPr/>
        </p:nvSpPr>
        <p:spPr>
          <a:xfrm>
            <a:off x="1530906" y="47625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Визуализатор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30906" y="5252918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Отображение лабиринта и маршрута в реальном времени.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57003" y="468463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3" name="Text 11"/>
          <p:cNvSpPr/>
          <p:nvPr/>
        </p:nvSpPr>
        <p:spPr>
          <a:xfrm>
            <a:off x="8194119" y="47625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Технологии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94119" y="5252918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C++ с Boost.Thread и OpenMP для высокопроизводительной многопоточности.</a:t>
            </a:r>
            <a:endParaRPr lang="en-US" sz="17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44A7401-8909-9606-7837-5ABC533D7A4B}"/>
              </a:ext>
            </a:extLst>
          </p:cNvPr>
          <p:cNvSpPr/>
          <p:nvPr/>
        </p:nvSpPr>
        <p:spPr>
          <a:xfrm>
            <a:off x="12791552" y="7707086"/>
            <a:ext cx="1758461" cy="432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613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Реализация построения лабиринта: Recursive Backtracker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727847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E9ECF2"/>
          </a:solidFill>
          <a:ln/>
        </p:spPr>
      </p:sp>
      <p:sp>
        <p:nvSpPr>
          <p:cNvPr id="5" name="Text 2"/>
          <p:cNvSpPr/>
          <p:nvPr/>
        </p:nvSpPr>
        <p:spPr>
          <a:xfrm>
            <a:off x="6790373" y="3727847"/>
            <a:ext cx="33060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Разделение лабиринта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790373" y="4218265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Делим на подобласти для параллельной обработки.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20351" y="4807982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E9ECF2"/>
          </a:solidFill>
          <a:ln/>
        </p:spPr>
      </p:sp>
      <p:sp>
        <p:nvSpPr>
          <p:cNvPr id="8" name="Text 5"/>
          <p:cNvSpPr/>
          <p:nvPr/>
        </p:nvSpPr>
        <p:spPr>
          <a:xfrm>
            <a:off x="7130534" y="4807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Создание потоков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130534" y="5298400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Параллельная обработка областей с синхронизацией.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960632" y="5888117"/>
            <a:ext cx="170021" cy="853321"/>
          </a:xfrm>
          <a:prstGeom prst="roundRect">
            <a:avLst>
              <a:gd name="adj" fmla="val 20012"/>
            </a:avLst>
          </a:prstGeom>
          <a:solidFill>
            <a:srgbClr val="E9ECF2"/>
          </a:solidFill>
          <a:ln/>
        </p:spPr>
      </p:sp>
      <p:sp>
        <p:nvSpPr>
          <p:cNvPr id="11" name="Text 8"/>
          <p:cNvSpPr/>
          <p:nvPr/>
        </p:nvSpPr>
        <p:spPr>
          <a:xfrm>
            <a:off x="7470815" y="5888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Оптимизация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470815" y="6378535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Балансировка нагрузки между потоками для скорости.</a:t>
            </a:r>
            <a:endParaRPr lang="en-US" sz="17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8131EA9-8ED7-4744-2D10-F65E5DDB56E9}"/>
              </a:ext>
            </a:extLst>
          </p:cNvPr>
          <p:cNvSpPr/>
          <p:nvPr/>
        </p:nvSpPr>
        <p:spPr>
          <a:xfrm>
            <a:off x="12791552" y="7707086"/>
            <a:ext cx="1758461" cy="432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126263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Реализация поиска пути: параллельный A*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37501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Разделение пространства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Области поиска распределяются между потоками.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997166"/>
            <a:ext cx="36912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Параллельная эвристика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Оценка стоимости пути ускорена вычислениями в потоках.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997166"/>
            <a:ext cx="38916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Проблемы синхронизации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Избежание гонок данных и deadlock через shared memory.</a:t>
            </a:r>
            <a:endParaRPr lang="en-US" sz="175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35AAA7B-6685-9BCC-9214-A1FDB9F41271}"/>
              </a:ext>
            </a:extLst>
          </p:cNvPr>
          <p:cNvSpPr/>
          <p:nvPr/>
        </p:nvSpPr>
        <p:spPr>
          <a:xfrm>
            <a:off x="12791552" y="7707086"/>
            <a:ext cx="1758461" cy="432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536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049" y="3703320"/>
            <a:ext cx="12707064" cy="688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Тестирование и оценка производительности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771049" y="4722138"/>
            <a:ext cx="6434018" cy="2060499"/>
          </a:xfrm>
          <a:prstGeom prst="roundRect">
            <a:avLst>
              <a:gd name="adj" fmla="val 1292"/>
            </a:avLst>
          </a:prstGeom>
          <a:solidFill>
            <a:srgbClr val="E9ECF2"/>
          </a:solidFill>
          <a:ln/>
        </p:spPr>
      </p:sp>
      <p:sp>
        <p:nvSpPr>
          <p:cNvPr id="5" name="Text 2"/>
          <p:cNvSpPr/>
          <p:nvPr/>
        </p:nvSpPr>
        <p:spPr>
          <a:xfrm>
            <a:off x="991314" y="4942403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Тесты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991314" y="5418773"/>
            <a:ext cx="5993487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Множество лабиринтов разного размера и сложности.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425333" y="4722138"/>
            <a:ext cx="6434018" cy="2060499"/>
          </a:xfrm>
          <a:prstGeom prst="roundRect">
            <a:avLst>
              <a:gd name="adj" fmla="val 1292"/>
            </a:avLst>
          </a:prstGeom>
          <a:solidFill>
            <a:srgbClr val="E9ECF2"/>
          </a:solidFill>
          <a:ln/>
        </p:spPr>
      </p:sp>
      <p:sp>
        <p:nvSpPr>
          <p:cNvPr id="8" name="Text 5"/>
          <p:cNvSpPr/>
          <p:nvPr/>
        </p:nvSpPr>
        <p:spPr>
          <a:xfrm>
            <a:off x="7645598" y="4942403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Метрики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645598" y="5418773"/>
            <a:ext cx="5993487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Время построения лабиринта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645598" y="5848231"/>
            <a:ext cx="5993487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Время поиска пути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645598" y="6277689"/>
            <a:ext cx="5993487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Ускорение с многопоточностью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645598" y="6707148"/>
            <a:ext cx="5993487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750"/>
              </a:lnSpc>
              <a:buSzPct val="100000"/>
            </a:pPr>
            <a:endParaRPr lang="en-US" sz="170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DCD0FBF-F78B-2FA0-4F98-5A321AE65D58}"/>
              </a:ext>
            </a:extLst>
          </p:cNvPr>
          <p:cNvSpPr/>
          <p:nvPr/>
        </p:nvSpPr>
        <p:spPr>
          <a:xfrm>
            <a:off x="12791552" y="7707086"/>
            <a:ext cx="1758461" cy="432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60936"/>
            <a:ext cx="80157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Результаты экспериментов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60987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4" name="Text 2"/>
          <p:cNvSpPr/>
          <p:nvPr/>
        </p:nvSpPr>
        <p:spPr>
          <a:xfrm>
            <a:off x="878860" y="165238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16877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Время работы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30906" y="2178162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Сократилось линейно с ростом числа потоков.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35893" y="160987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8" name="Text 6"/>
          <p:cNvSpPr/>
          <p:nvPr/>
        </p:nvSpPr>
        <p:spPr>
          <a:xfrm>
            <a:off x="5320963" y="165238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5973008" y="16877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Анализ ускорения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73008" y="2178162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Оптимальное число потоков зависит от размера лабиринта.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77995" y="160987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2" name="Text 10"/>
          <p:cNvSpPr/>
          <p:nvPr/>
        </p:nvSpPr>
        <p:spPr>
          <a:xfrm>
            <a:off x="9763065" y="165238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0415111" y="1687743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Эффективность алгоритмов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415111" y="2532492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Параллельные методы показывают лучшие результаты.</a:t>
            </a:r>
            <a:endParaRPr lang="en-US" sz="17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55F268E-9058-187F-511E-723968420D02}"/>
              </a:ext>
            </a:extLst>
          </p:cNvPr>
          <p:cNvSpPr/>
          <p:nvPr/>
        </p:nvSpPr>
        <p:spPr>
          <a:xfrm>
            <a:off x="12791552" y="7707086"/>
            <a:ext cx="1758461" cy="432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1F050D8-0117-8BC4-3BD6-C456EDDB8F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629"/>
          <a:stretch/>
        </p:blipFill>
        <p:spPr bwMode="auto">
          <a:xfrm>
            <a:off x="3651813" y="3621495"/>
            <a:ext cx="6451414" cy="45176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666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Возможные улучшения и дальнейшие исследования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697950" y="4260771"/>
            <a:ext cx="28810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Использование GPU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751189"/>
            <a:ext cx="3785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Ускорение вычислений за счет параллелизма на графических процессорах.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71411" y="4563428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9937790" y="3125153"/>
            <a:ext cx="34762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Балансировка нагрузки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937790" y="3615571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Разработка динамичных алгоритмов распределения нагрузки между потоками.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70307" y="3612356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7"/>
          <p:cNvSpPr/>
          <p:nvPr/>
        </p:nvSpPr>
        <p:spPr>
          <a:xfrm>
            <a:off x="9937790" y="5759172"/>
            <a:ext cx="37041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Генетические алгоритмы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937790" y="6249591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Оптимизация маршрутов с помощью эволюционных методов.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94533" y="6338530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7C0F646-F86F-CD41-B5B6-B618FD7DC0B9}"/>
              </a:ext>
            </a:extLst>
          </p:cNvPr>
          <p:cNvSpPr/>
          <p:nvPr/>
        </p:nvSpPr>
        <p:spPr>
          <a:xfrm>
            <a:off x="12791552" y="7707086"/>
            <a:ext cx="1758461" cy="432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617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Заключение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81071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4" name="Text 2"/>
          <p:cNvSpPr/>
          <p:nvPr/>
        </p:nvSpPr>
        <p:spPr>
          <a:xfrm>
            <a:off x="1530906" y="38885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Достижения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30906" y="4379000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Созданы многопоточные приложения для сложных лабиринтов.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35893" y="381071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7" name="Text 5"/>
          <p:cNvSpPr/>
          <p:nvPr/>
        </p:nvSpPr>
        <p:spPr>
          <a:xfrm>
            <a:off x="5973008" y="38885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Результаты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73008" y="4379000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Значительное ускорение по сравнению с однопоточными решениями.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77995" y="381071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0" name="Text 8"/>
          <p:cNvSpPr/>
          <p:nvPr/>
        </p:nvSpPr>
        <p:spPr>
          <a:xfrm>
            <a:off x="10415111" y="38885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Перспективы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5111" y="4379000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Разработка масштабируемых и эффективных алгоритмов для практики.</a:t>
            </a:r>
            <a:endParaRPr lang="en-US" sz="175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41E47A-844D-8AAA-C156-045201FC9A57}"/>
              </a:ext>
            </a:extLst>
          </p:cNvPr>
          <p:cNvSpPr/>
          <p:nvPr/>
        </p:nvSpPr>
        <p:spPr>
          <a:xfrm>
            <a:off x="12791552" y="7707086"/>
            <a:ext cx="1758461" cy="432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498</Words>
  <Application>Microsoft Macintosh PowerPoint</Application>
  <PresentationFormat>Произвольный</PresentationFormat>
  <Paragraphs>100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Roboto</vt:lpstr>
      <vt:lpstr>Roboto Slab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 민수</cp:lastModifiedBy>
  <cp:revision>14</cp:revision>
  <dcterms:created xsi:type="dcterms:W3CDTF">2025-04-30T16:58:45Z</dcterms:created>
  <dcterms:modified xsi:type="dcterms:W3CDTF">2026-01-21T10:08:00Z</dcterms:modified>
</cp:coreProperties>
</file>